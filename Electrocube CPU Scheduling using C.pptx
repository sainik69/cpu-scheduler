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26"/>
  </p:notesMasterIdLst>
  <p:sldIdLst>
    <p:sldId id="278" r:id="rId5"/>
    <p:sldId id="279" r:id="rId6"/>
    <p:sldId id="297" r:id="rId7"/>
    <p:sldId id="281" r:id="rId8"/>
    <p:sldId id="282" r:id="rId9"/>
    <p:sldId id="283" r:id="rId10"/>
    <p:sldId id="289" r:id="rId11"/>
    <p:sldId id="285" r:id="rId12"/>
    <p:sldId id="290" r:id="rId13"/>
    <p:sldId id="280" r:id="rId14"/>
    <p:sldId id="291" r:id="rId15"/>
    <p:sldId id="287" r:id="rId16"/>
    <p:sldId id="292" r:id="rId17"/>
    <p:sldId id="286" r:id="rId18"/>
    <p:sldId id="293" r:id="rId19"/>
    <p:sldId id="284" r:id="rId20"/>
    <p:sldId id="294" r:id="rId21"/>
    <p:sldId id="288" r:id="rId22"/>
    <p:sldId id="298" r:id="rId23"/>
    <p:sldId id="295" r:id="rId24"/>
    <p:sldId id="296"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C0C0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19" autoAdjust="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D01546-198A-4195-BCF8-F0FF54C90E5E}" type="datetimeFigureOut">
              <a:rPr lang="en-US" smtClean="0"/>
              <a:t>2/3/2026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6DE88F-1F85-4A27-9D34-D74A50E7B0DA}" type="slidenum">
              <a:rPr lang="en-US" smtClean="0"/>
              <a:t>‹#›</a:t>
            </a:fld>
            <a:endParaRPr lang="en-US" dirty="0"/>
          </a:p>
        </p:txBody>
      </p:sp>
    </p:spTree>
    <p:extLst>
      <p:ext uri="{BB962C8B-B14F-4D97-AF65-F5344CB8AC3E}">
        <p14:creationId xmlns:p14="http://schemas.microsoft.com/office/powerpoint/2010/main" val="37300918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AEA074-24A7-4657-AE02-A51F68EA6AA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578475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77348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8D38747-4367-4BD2-8D51-C97E202738E2}" type="datetime1">
              <a:rPr lang="en-US" smtClean="0"/>
              <a:t>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1507467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C55A3C-5767-4844-A0A3-83778C2E5409}" type="datetime1">
              <a:rPr lang="en-US" smtClean="0"/>
              <a:t>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1548654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763439"/>
            <a:ext cx="9590550" cy="133349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AE507A8-A5CF-4D38-AB86-7EDDA87A85D4}" type="datetime1">
              <a:rPr lang="en-US" smtClean="0"/>
              <a:t>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846401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126187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76450"/>
            <a:ext cx="4856841" cy="362267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0716" y="2076451"/>
            <a:ext cx="4856841" cy="3622672"/>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DFCD27C-8599-43EF-BA1D-14DDC1946E06}" type="datetime1">
              <a:rPr lang="en-US" smtClean="0"/>
              <a:t>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9882058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a:extLst>
              <a:ext uri="{FF2B5EF4-FFF2-40B4-BE49-F238E27FC236}">
                <a16:creationId xmlns:a16="http://schemas.microsoft.com/office/drawing/2014/main" id="{37B721FF-D609-4D98-9D19-CF75AA8A54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29200" cy="4099959"/>
          </a:xfrm>
          <a:prstGeom prst="rect">
            <a:avLst/>
          </a:prstGeom>
        </p:spPr>
      </p:pic>
      <p:pic>
        <p:nvPicPr>
          <p:cNvPr id="21" name="Picture 20" descr="Slate-V2-HD-compPhotoInset.png">
            <a:extLst>
              <a:ext uri="{FF2B5EF4-FFF2-40B4-BE49-F238E27FC236}">
                <a16:creationId xmlns:a16="http://schemas.microsoft.com/office/drawing/2014/main" id="{073936BD-C868-433F-8E84-D6DD8E640E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38357" y="1734506"/>
            <a:ext cx="5029200" cy="4099959"/>
          </a:xfrm>
          <a:prstGeom prst="rect">
            <a:avLst/>
          </a:prstGeom>
        </p:spPr>
      </p:pic>
      <p:sp>
        <p:nvSpPr>
          <p:cNvPr id="2" name="Title 1"/>
          <p:cNvSpPr>
            <a:spLocks noGrp="1"/>
          </p:cNvSpPr>
          <p:nvPr>
            <p:ph type="title"/>
          </p:nvPr>
        </p:nvSpPr>
        <p:spPr>
          <a:xfrm>
            <a:off x="913795" y="609600"/>
            <a:ext cx="10353762" cy="97045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46013" y="1855153"/>
            <a:ext cx="4764764" cy="69249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46013" y="2702103"/>
            <a:ext cx="4764764"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3166" y="1855152"/>
            <a:ext cx="4779582" cy="692495"/>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3167" y="2702103"/>
            <a:ext cx="4779581"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9343D99-809A-49C0-96E5-4250D0B498EE}" type="datetime1">
              <a:rPr lang="en-US" smtClean="0"/>
              <a:t>2/3/2026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2351203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143DE9B-B678-4EFB-BB7D-A4370204A0B0}" type="datetime1">
              <a:rPr lang="en-US" smtClean="0"/>
              <a:t>2/3/2026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90940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8812DA-F765-4142-A6A3-A8ED7235E082}" type="datetime1">
              <a:rPr lang="en-US" smtClean="0"/>
              <a:t>2/3/2026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6551302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8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0800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673351"/>
            <a:ext cx="3706889" cy="3016250"/>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E0277FD-7DE6-41D4-930D-AC99F5AFE54E}" type="datetime1">
              <a:rPr lang="en-US" smtClean="0"/>
              <a:t>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7935569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a:extLst>
              <a:ext uri="{FF2B5EF4-FFF2-40B4-BE49-F238E27FC236}">
                <a16:creationId xmlns:a16="http://schemas.microsoft.com/office/drawing/2014/main" id="{4D06E496-ACBA-4063-B4A1-C5C484EE5A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763701"/>
            <a:ext cx="5707899" cy="1675559"/>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73698" y="2679699"/>
            <a:ext cx="4588094" cy="3135695"/>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EA15526-7079-4B7B-987C-1B5FAE11A0FF}" type="datetime1">
              <a:rPr lang="en-US" smtClean="0"/>
              <a:t>2/3/2026</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30567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a:extLst>
              <a:ext uri="{FF2B5EF4-FFF2-40B4-BE49-F238E27FC236}">
                <a16:creationId xmlns:a16="http://schemas.microsoft.com/office/drawing/2014/main" id="{CE39118B-B3AD-4BD4-BA22-DEFF4E76CE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247728"/>
            <a:ext cx="10353762" cy="543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1F1B079-7EF0-44EE-B798-BCC497C9F3B2}" type="datetime1">
              <a:rPr lang="en-US" smtClean="0"/>
              <a:t>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0095022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normAutofit/>
          </a:bodyPr>
          <a:lstStyle>
            <a:lvl1pPr>
              <a:defRPr sz="40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8FF70A8-1D13-4657-95F0-A9EA54967B8D}" type="datetime1">
              <a:rPr lang="en-US" smtClean="0"/>
              <a:t>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053850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1EB90AC-71BD-4C7F-8ACA-7B3F18292E63}" type="datetime1">
              <a:rPr lang="en-US" smtClean="0"/>
              <a:t>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
        <p:nvSpPr>
          <p:cNvPr id="11" name="TextBox 10">
            <a:extLst>
              <a:ext uri="{FF2B5EF4-FFF2-40B4-BE49-F238E27FC236}">
                <a16:creationId xmlns:a16="http://schemas.microsoft.com/office/drawing/2014/main" id="{223F0D53-0705-41B7-8554-09D21E7807F9}"/>
              </a:ext>
            </a:extLst>
          </p:cNvPr>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a:extLst>
              <a:ext uri="{FF2B5EF4-FFF2-40B4-BE49-F238E27FC236}">
                <a16:creationId xmlns:a16="http://schemas.microsoft.com/office/drawing/2014/main" id="{C7F647CD-0F1A-4BB3-89E0-A74F1E1B098D}"/>
              </a:ext>
            </a:extLst>
          </p:cNvPr>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7752911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E6EFC2C-8905-46F0-B443-CE905B76BA01}" type="datetime1">
              <a:rPr lang="en-US" smtClean="0"/>
              <a:t>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3450925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764782"/>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768112"/>
            <a:ext cx="3300984" cy="302308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49"/>
            <a:ext cx="3300984" cy="764783"/>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768112"/>
            <a:ext cx="3300984" cy="302308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764782"/>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768110"/>
            <a:ext cx="3300984" cy="302308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D9079DC3-C9B5-499E-9140-0DC28B7074E2}" type="datetime1">
              <a:rPr lang="en-US" smtClean="0"/>
              <a:t>2/3/2026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0326478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a:extLst>
              <a:ext uri="{FF2B5EF4-FFF2-40B4-BE49-F238E27FC236}">
                <a16:creationId xmlns:a16="http://schemas.microsoft.com/office/drawing/2014/main" id="{7E87C569-D426-4615-ADA7-B370EA9834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a:extLst>
              <a:ext uri="{FF2B5EF4-FFF2-40B4-BE49-F238E27FC236}">
                <a16:creationId xmlns:a16="http://schemas.microsoft.com/office/drawing/2014/main" id="{7B353ED4-7AD0-46C9-88ED-1A16B1433A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a:extLst>
              <a:ext uri="{FF2B5EF4-FFF2-40B4-BE49-F238E27FC236}">
                <a16:creationId xmlns:a16="http://schemas.microsoft.com/office/drawing/2014/main" id="{F561D985-AD57-459A-B3A6-EBF2960397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572443"/>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572442"/>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572442"/>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0BB33EA-E472-4D22-9C03-A9C14AA21CED}" type="datetime1">
              <a:rPr lang="en-US" smtClean="0"/>
              <a:t>2/3/2026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7932546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125730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76450"/>
            <a:ext cx="10353762" cy="3714749"/>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6000749"/>
            <a:ext cx="2743200" cy="365125"/>
          </a:xfrm>
          <a:prstGeom prst="rect">
            <a:avLst/>
          </a:prstGeom>
        </p:spPr>
        <p:txBody>
          <a:bodyPr vert="horz" lIns="91440" tIns="45720" rIns="91440" bIns="45720" rtlCol="0" anchor="ctr"/>
          <a:lstStyle>
            <a:lvl1pPr algn="r">
              <a:defRPr sz="1100">
                <a:solidFill>
                  <a:schemeClr val="tx1">
                    <a:lumMod val="95000"/>
                  </a:schemeClr>
                </a:solidFill>
                <a:effectLst>
                  <a:outerShdw blurRad="50800" dist="38100" dir="2700000" algn="tl" rotWithShape="0">
                    <a:schemeClr val="bg1">
                      <a:alpha val="43000"/>
                    </a:schemeClr>
                  </a:outerShdw>
                </a:effectLst>
              </a:defRPr>
            </a:lvl1pPr>
          </a:lstStyle>
          <a:p>
            <a:fld id="{073ED0CC-082F-4160-86E5-0D6041F12778}" type="datetime1">
              <a:rPr lang="en-US" smtClean="0"/>
              <a:t>2/3/2026</a:t>
            </a:fld>
            <a:endParaRPr lang="en-US" dirty="0"/>
          </a:p>
        </p:txBody>
      </p:sp>
      <p:sp>
        <p:nvSpPr>
          <p:cNvPr id="5" name="Footer Placeholder 4"/>
          <p:cNvSpPr>
            <a:spLocks noGrp="1"/>
          </p:cNvSpPr>
          <p:nvPr>
            <p:ph type="ftr" sz="quarter" idx="3"/>
          </p:nvPr>
        </p:nvSpPr>
        <p:spPr>
          <a:xfrm>
            <a:off x="913795" y="6000749"/>
            <a:ext cx="6672865" cy="365125"/>
          </a:xfrm>
          <a:prstGeom prst="rect">
            <a:avLst/>
          </a:prstGeom>
        </p:spPr>
        <p:txBody>
          <a:bodyPr vert="horz" lIns="91440" tIns="45720" rIns="91440" bIns="45720" rtlCol="0" anchor="ctr"/>
          <a:lstStyle>
            <a:lvl1pPr algn="l">
              <a:defRPr sz="1100">
                <a:solidFill>
                  <a:schemeClr val="tx1">
                    <a:lumMod val="95000"/>
                  </a:schemeClr>
                </a:solidFill>
                <a:effectLst>
                  <a:outerShdw blurRad="50800" dist="38100" dir="2700000" algn="tl" rotWithShape="0">
                    <a:schemeClr val="bg1">
                      <a:alpha val="43000"/>
                    </a:schemeClr>
                  </a:outerShdw>
                </a:effectLst>
              </a:defRPr>
            </a:lvl1pPr>
          </a:lstStyle>
          <a:p>
            <a:endParaRPr lang="en-US" dirty="0"/>
          </a:p>
        </p:txBody>
      </p:sp>
      <p:sp>
        <p:nvSpPr>
          <p:cNvPr id="6" name="Slide Number Placeholder 5"/>
          <p:cNvSpPr>
            <a:spLocks noGrp="1"/>
          </p:cNvSpPr>
          <p:nvPr>
            <p:ph type="sldNum" sz="quarter" idx="4"/>
          </p:nvPr>
        </p:nvSpPr>
        <p:spPr>
          <a:xfrm>
            <a:off x="10514011" y="6000749"/>
            <a:ext cx="753545" cy="365125"/>
          </a:xfrm>
          <a:prstGeom prst="rect">
            <a:avLst/>
          </a:prstGeom>
        </p:spPr>
        <p:txBody>
          <a:bodyPr vert="horz" lIns="91440" tIns="45720" rIns="91440" bIns="45720" rtlCol="0" anchor="ctr"/>
          <a:lstStyle>
            <a:lvl1pPr algn="r">
              <a:defRPr sz="1100">
                <a:solidFill>
                  <a:schemeClr val="tx1">
                    <a:lumMod val="95000"/>
                  </a:schemeClr>
                </a:solidFill>
                <a:effectLst>
                  <a:outerShdw blurRad="50800" dist="38100" dir="2700000" algn="tl" rotWithShape="0">
                    <a:schemeClr val="bg1">
                      <a:alpha val="43000"/>
                    </a:schemeClr>
                  </a:outerShdw>
                </a:effectLst>
              </a:defRPr>
            </a:lvl1pPr>
          </a:lstStyle>
          <a:p>
            <a:fld id="{3A98EE3D-8CD1-4C3F-BD1C-C98C9596463C}" type="slidenum">
              <a:rPr lang="en-US" smtClean="0"/>
              <a:t>‹#›</a:t>
            </a:fld>
            <a:endParaRPr lang="en-US" dirty="0"/>
          </a:p>
        </p:txBody>
      </p:sp>
    </p:spTree>
    <p:extLst>
      <p:ext uri="{BB962C8B-B14F-4D97-AF65-F5344CB8AC3E}">
        <p14:creationId xmlns:p14="http://schemas.microsoft.com/office/powerpoint/2010/main" val="1858978357"/>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Lst>
  <p:hf sldNum="0" hdr="0" ftr="0" dt="0"/>
  <p:txStyles>
    <p:titleStyle>
      <a:lvl1pPr algn="ctr" defTabSz="457200" rtl="0" eaLnBrk="1" latinLnBrk="0" hangingPunct="1">
        <a:lnSpc>
          <a:spcPct val="90000"/>
        </a:lnSpc>
        <a:spcBef>
          <a:spcPct val="0"/>
        </a:spcBef>
        <a:buNone/>
        <a:defRPr sz="4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lnSpc>
          <a:spcPct val="110000"/>
        </a:lnSpc>
        <a:spcBef>
          <a:spcPct val="20000"/>
        </a:spcBef>
        <a:spcAft>
          <a:spcPts val="600"/>
        </a:spcAft>
        <a:buClr>
          <a:schemeClr val="tx2"/>
        </a:buClr>
        <a:buSzPct val="70000"/>
        <a:buFont typeface="Wingdings 2" charset="2"/>
        <a:buChar char=""/>
        <a:defRPr sz="23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21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1.xml"/><Relationship Id="rId1" Type="http://schemas.openxmlformats.org/officeDocument/2006/relationships/themeOverride" Target="../theme/themeOverride1.xml"/><Relationship Id="rId5" Type="http://schemas.openxmlformats.org/officeDocument/2006/relationships/image" Target="../media/image7.png"/><Relationship Id="rId4" Type="http://schemas.openxmlformats.org/officeDocument/2006/relationships/image" Target="../media/image6.jpeg"/></Relationships>
</file>

<file path=ppt/slides/_rels/slide2.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notesSlide" Target="../notesSlides/notesSlide1.xml"/><Relationship Id="rId7" Type="http://schemas.openxmlformats.org/officeDocument/2006/relationships/image" Target="../media/image10.png"/><Relationship Id="rId2" Type="http://schemas.openxmlformats.org/officeDocument/2006/relationships/slideLayout" Target="../slideLayouts/slideLayout2.xml"/><Relationship Id="rId1" Type="http://schemas.openxmlformats.org/officeDocument/2006/relationships/themeOverride" Target="../theme/themeOverride2.xml"/><Relationship Id="rId6" Type="http://schemas.openxmlformats.org/officeDocument/2006/relationships/image" Target="../media/image9.png"/><Relationship Id="rId5" Type="http://schemas.openxmlformats.org/officeDocument/2006/relationships/image" Target="../media/image8.jpeg"/><Relationship Id="rId4" Type="http://schemas.openxmlformats.org/officeDocument/2006/relationships/image" Target="../media/image1.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chatgpt.com/" TargetMode="External"/><Relationship Id="rId2" Type="http://schemas.openxmlformats.org/officeDocument/2006/relationships/hyperlink" Target="https://www.geeksforgeeks.org/"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pixabay.com/en/thank-you-paper-message-note-391055/" TargetMode="External"/><Relationship Id="rId2" Type="http://schemas.openxmlformats.org/officeDocument/2006/relationships/image" Target="../media/image26.jpg"/><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1">
                <a:shade val="80000"/>
                <a:lumMod val="80000"/>
              </a:schemeClr>
              <a:schemeClr val="bg1">
                <a:tint val="98000"/>
              </a:schemeClr>
            </a:duotone>
          </a:blip>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8A1C807-B9AD-4C9B-BF9F-60F03428998E}"/>
              </a:ext>
              <a:ext uri="{C183D7F6-B498-43B3-948B-1728B52AA6E4}">
                <adec:decorative xmlns:adec="http://schemas.microsoft.com/office/drawing/2017/decorative" val="1"/>
              </a:ext>
            </a:extLst>
          </p:cNvPr>
          <p:cNvPicPr>
            <a:picLocks noChangeAspect="1"/>
          </p:cNvPicPr>
          <p:nvPr/>
        </p:nvPicPr>
        <p:blipFill rotWithShape="1">
          <a:blip r:embed="rId4">
            <a:extLst>
              <a:ext uri="{28A0092B-C50C-407E-A947-70E740481C1C}">
                <a14:useLocalDpi xmlns:a14="http://schemas.microsoft.com/office/drawing/2010/main" val="0"/>
              </a:ext>
            </a:extLst>
          </a:blip>
          <a:srcRect r="565"/>
          <a:stretch>
            <a:fillRect/>
          </a:stretch>
        </p:blipFill>
        <p:spPr>
          <a:xfrm>
            <a:off x="-1" y="10"/>
            <a:ext cx="12192001" cy="6857990"/>
          </a:xfrm>
          <a:prstGeom prst="rect">
            <a:avLst/>
          </a:prstGeom>
        </p:spPr>
      </p:pic>
      <p:sp useBgFill="1">
        <p:nvSpPr>
          <p:cNvPr id="103" name="Freeform 5">
            <a:extLst>
              <a:ext uri="{FF2B5EF4-FFF2-40B4-BE49-F238E27FC236}">
                <a16:creationId xmlns:a16="http://schemas.microsoft.com/office/drawing/2014/main" id="{FE469E50-3893-4ED6-92BA-2985C32B0C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rot="5400000">
            <a:off x="7131809" y="1385982"/>
            <a:ext cx="4031414" cy="4100418"/>
          </a:xfrm>
          <a:custGeom>
            <a:avLst/>
            <a:gdLst>
              <a:gd name="T0" fmla="*/ 1577 w 1601"/>
              <a:gd name="T1" fmla="*/ 0 h 696"/>
              <a:gd name="T2" fmla="*/ 833 w 1601"/>
              <a:gd name="T3" fmla="*/ 0 h 696"/>
              <a:gd name="T4" fmla="*/ 768 w 1601"/>
              <a:gd name="T5" fmla="*/ 0 h 696"/>
              <a:gd name="T6" fmla="*/ 24 w 1601"/>
              <a:gd name="T7" fmla="*/ 0 h 696"/>
              <a:gd name="T8" fmla="*/ 0 w 1601"/>
              <a:gd name="T9" fmla="*/ 27 h 696"/>
              <a:gd name="T10" fmla="*/ 0 w 1601"/>
              <a:gd name="T11" fmla="*/ 669 h 696"/>
              <a:gd name="T12" fmla="*/ 24 w 1601"/>
              <a:gd name="T13" fmla="*/ 696 h 696"/>
              <a:gd name="T14" fmla="*/ 768 w 1601"/>
              <a:gd name="T15" fmla="*/ 696 h 696"/>
              <a:gd name="T16" fmla="*/ 833 w 1601"/>
              <a:gd name="T17" fmla="*/ 696 h 696"/>
              <a:gd name="T18" fmla="*/ 1577 w 1601"/>
              <a:gd name="T19" fmla="*/ 696 h 696"/>
              <a:gd name="T20" fmla="*/ 1601 w 1601"/>
              <a:gd name="T21" fmla="*/ 669 h 696"/>
              <a:gd name="T22" fmla="*/ 1601 w 1601"/>
              <a:gd name="T23" fmla="*/ 27 h 696"/>
              <a:gd name="T24" fmla="*/ 1577 w 1601"/>
              <a:gd name="T25" fmla="*/ 0 h 6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01" h="696">
                <a:moveTo>
                  <a:pt x="1577" y="0"/>
                </a:moveTo>
                <a:cubicBezTo>
                  <a:pt x="833" y="0"/>
                  <a:pt x="833" y="0"/>
                  <a:pt x="833" y="0"/>
                </a:cubicBezTo>
                <a:cubicBezTo>
                  <a:pt x="768" y="0"/>
                  <a:pt x="768" y="0"/>
                  <a:pt x="768" y="0"/>
                </a:cubicBezTo>
                <a:cubicBezTo>
                  <a:pt x="24" y="0"/>
                  <a:pt x="24" y="0"/>
                  <a:pt x="24" y="0"/>
                </a:cubicBezTo>
                <a:cubicBezTo>
                  <a:pt x="11" y="0"/>
                  <a:pt x="0" y="12"/>
                  <a:pt x="0" y="27"/>
                </a:cubicBezTo>
                <a:cubicBezTo>
                  <a:pt x="0" y="669"/>
                  <a:pt x="0" y="669"/>
                  <a:pt x="0" y="669"/>
                </a:cubicBezTo>
                <a:cubicBezTo>
                  <a:pt x="0" y="684"/>
                  <a:pt x="11" y="696"/>
                  <a:pt x="24" y="696"/>
                </a:cubicBezTo>
                <a:cubicBezTo>
                  <a:pt x="768" y="696"/>
                  <a:pt x="768" y="696"/>
                  <a:pt x="768" y="696"/>
                </a:cubicBezTo>
                <a:cubicBezTo>
                  <a:pt x="833" y="696"/>
                  <a:pt x="833" y="696"/>
                  <a:pt x="833" y="696"/>
                </a:cubicBezTo>
                <a:cubicBezTo>
                  <a:pt x="1577" y="696"/>
                  <a:pt x="1577" y="696"/>
                  <a:pt x="1577" y="696"/>
                </a:cubicBezTo>
                <a:cubicBezTo>
                  <a:pt x="1590" y="696"/>
                  <a:pt x="1601" y="684"/>
                  <a:pt x="1601" y="669"/>
                </a:cubicBezTo>
                <a:cubicBezTo>
                  <a:pt x="1601" y="27"/>
                  <a:pt x="1601" y="27"/>
                  <a:pt x="1601" y="27"/>
                </a:cubicBezTo>
                <a:cubicBezTo>
                  <a:pt x="1601" y="12"/>
                  <a:pt x="1590" y="0"/>
                  <a:pt x="1577" y="0"/>
                </a:cubicBezTo>
                <a:close/>
              </a:path>
            </a:pathLst>
          </a:custGeom>
          <a:ln>
            <a:noFill/>
          </a:ln>
          <a:effectLst>
            <a:outerShdw blurRad="50800" dist="38100" dir="5400000" algn="tl" rotWithShape="0">
              <a:srgbClr val="000000">
                <a:alpha val="43000"/>
              </a:srgbClr>
            </a:outerShdw>
          </a:effectLst>
          <a:extLst>
            <a:ext uri="{91240B29-F687-4f45-9708-019B960494DF}">
              <a14:hiddenLine xmlns:a16="http://schemas.microsoft.com/office/drawing/2014/main" xmlns:p14="http://schemas.microsoft.com/office/powerpoint/2010/main"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oudy Old Style"/>
              <a:ea typeface="+mn-ea"/>
              <a:cs typeface="+mn-cs"/>
            </a:endParaRPr>
          </a:p>
        </p:txBody>
      </p:sp>
      <p:sp>
        <p:nvSpPr>
          <p:cNvPr id="2" name="Title 1">
            <a:extLst>
              <a:ext uri="{FF2B5EF4-FFF2-40B4-BE49-F238E27FC236}">
                <a16:creationId xmlns:a16="http://schemas.microsoft.com/office/drawing/2014/main" id="{0D1F047C-C727-42A7-85C5-68C5AA1B1A93}"/>
              </a:ext>
            </a:extLst>
          </p:cNvPr>
          <p:cNvSpPr>
            <a:spLocks noGrp="1"/>
          </p:cNvSpPr>
          <p:nvPr>
            <p:ph type="ctrTitle"/>
          </p:nvPr>
        </p:nvSpPr>
        <p:spPr>
          <a:xfrm>
            <a:off x="7097307" y="1420484"/>
            <a:ext cx="4100417" cy="1331347"/>
          </a:xfrm>
        </p:spPr>
        <p:txBody>
          <a:bodyPr>
            <a:normAutofit/>
          </a:bodyPr>
          <a:lstStyle/>
          <a:p>
            <a:r>
              <a:rPr lang="en-US" sz="4000" dirty="0"/>
              <a:t>CPU Scheduling using C</a:t>
            </a:r>
          </a:p>
        </p:txBody>
      </p:sp>
      <p:sp>
        <p:nvSpPr>
          <p:cNvPr id="3" name="Subtitle 2">
            <a:extLst>
              <a:ext uri="{FF2B5EF4-FFF2-40B4-BE49-F238E27FC236}">
                <a16:creationId xmlns:a16="http://schemas.microsoft.com/office/drawing/2014/main" id="{DB93FB3F-A8D4-46D3-A1C6-C79C64563729}"/>
              </a:ext>
            </a:extLst>
          </p:cNvPr>
          <p:cNvSpPr>
            <a:spLocks noGrp="1"/>
          </p:cNvSpPr>
          <p:nvPr>
            <p:ph type="subTitle" idx="1"/>
          </p:nvPr>
        </p:nvSpPr>
        <p:spPr>
          <a:xfrm>
            <a:off x="7097307" y="2751832"/>
            <a:ext cx="4100416" cy="2700066"/>
          </a:xfrm>
        </p:spPr>
        <p:txBody>
          <a:bodyPr>
            <a:normAutofit/>
          </a:bodyPr>
          <a:lstStyle/>
          <a:p>
            <a:pPr algn="l"/>
            <a:r>
              <a:rPr lang="en-US" sz="2300" dirty="0"/>
              <a:t>Made by Team </a:t>
            </a:r>
            <a:r>
              <a:rPr lang="en-US" sz="2300" b="1" dirty="0"/>
              <a:t>Electrocube</a:t>
            </a:r>
          </a:p>
          <a:p>
            <a:pPr marL="457200" indent="-457200" algn="l">
              <a:buAutoNum type="arabicPeriod"/>
            </a:pPr>
            <a:r>
              <a:rPr lang="en-US" i="1" dirty="0"/>
              <a:t>Himaneesh Singh</a:t>
            </a:r>
          </a:p>
          <a:p>
            <a:pPr marL="457200" indent="-457200" algn="l">
              <a:buAutoNum type="arabicPeriod"/>
            </a:pPr>
            <a:r>
              <a:rPr lang="en-US" sz="2300" i="1" dirty="0"/>
              <a:t>Nik</a:t>
            </a:r>
            <a:r>
              <a:rPr lang="en-US" i="1" dirty="0"/>
              <a:t>hil Saini</a:t>
            </a:r>
          </a:p>
          <a:p>
            <a:pPr marL="457200" indent="-457200" algn="l">
              <a:buAutoNum type="arabicPeriod"/>
            </a:pPr>
            <a:r>
              <a:rPr lang="en-US" sz="2300" i="1" dirty="0"/>
              <a:t>Shambhav Chaudhary</a:t>
            </a:r>
          </a:p>
          <a:p>
            <a:pPr marL="457200" indent="-457200" algn="l">
              <a:buAutoNum type="arabicPeriod"/>
            </a:pPr>
            <a:r>
              <a:rPr lang="en-US" i="1" dirty="0"/>
              <a:t>Srivatsan Karthikeyan</a:t>
            </a:r>
            <a:endParaRPr lang="en-US" sz="2300" i="1" dirty="0"/>
          </a:p>
        </p:txBody>
      </p:sp>
      <p:pic>
        <p:nvPicPr>
          <p:cNvPr id="10" name="Picture 9">
            <a:extLst>
              <a:ext uri="{FF2B5EF4-FFF2-40B4-BE49-F238E27FC236}">
                <a16:creationId xmlns:a16="http://schemas.microsoft.com/office/drawing/2014/main" id="{AB073378-3FA0-983C-6488-D68B007767E6}"/>
              </a:ext>
            </a:extLst>
          </p:cNvPr>
          <p:cNvPicPr>
            <a:picLocks noChangeAspect="1"/>
          </p:cNvPicPr>
          <p:nvPr/>
        </p:nvPicPr>
        <p:blipFill>
          <a:blip r:embed="rId5"/>
          <a:srcRect l="13297" t="16201" r="13727" b="18710"/>
          <a:stretch>
            <a:fillRect/>
          </a:stretch>
        </p:blipFill>
        <p:spPr>
          <a:xfrm>
            <a:off x="521110" y="840569"/>
            <a:ext cx="6115664" cy="5454836"/>
          </a:xfrm>
          <a:prstGeom prst="rect">
            <a:avLst/>
          </a:prstGeom>
        </p:spPr>
      </p:pic>
    </p:spTree>
    <p:extLst>
      <p:ext uri="{BB962C8B-B14F-4D97-AF65-F5344CB8AC3E}">
        <p14:creationId xmlns:p14="http://schemas.microsoft.com/office/powerpoint/2010/main" val="41678842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4">
            <a:duotone>
              <a:schemeClr val="bg1">
                <a:shade val="80000"/>
                <a:lumMod val="80000"/>
              </a:schemeClr>
              <a:schemeClr val="bg1">
                <a:tint val="98000"/>
              </a:schemeClr>
            </a:duotone>
          </a:blip>
          <a:stretch/>
        </a:blipFill>
        <a:effectLst/>
      </p:bgPr>
    </p:bg>
    <p:spTree>
      <p:nvGrpSpPr>
        <p:cNvPr id="1" name=""/>
        <p:cNvGrpSpPr/>
        <p:nvPr/>
      </p:nvGrpSpPr>
      <p:grpSpPr>
        <a:xfrm>
          <a:off x="0" y="0"/>
          <a:ext cx="0" cy="0"/>
          <a:chOff x="0" y="0"/>
          <a:chExt cx="0" cy="0"/>
        </a:xfrm>
      </p:grpSpPr>
      <p:sp useBgFill="1">
        <p:nvSpPr>
          <p:cNvPr id="55" name="Rectangle 54">
            <a:extLst>
              <a:ext uri="{FF2B5EF4-FFF2-40B4-BE49-F238E27FC236}">
                <a16:creationId xmlns:a16="http://schemas.microsoft.com/office/drawing/2014/main" id="{0EF2A0DA-AE81-4A45-972E-646AC2870C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oudy Old Style"/>
              <a:ea typeface="+mn-ea"/>
              <a:cs typeface="+mn-cs"/>
            </a:endParaRPr>
          </a:p>
        </p:txBody>
      </p:sp>
      <p:pic>
        <p:nvPicPr>
          <p:cNvPr id="3" name="Picture 2">
            <a:extLst>
              <a:ext uri="{FF2B5EF4-FFF2-40B4-BE49-F238E27FC236}">
                <a16:creationId xmlns:a16="http://schemas.microsoft.com/office/drawing/2014/main" id="{72B2D6DE-C9B5-4678-91EF-77E85F2350DA}"/>
              </a:ext>
              <a:ext uri="{C183D7F6-B498-43B3-948B-1728B52AA6E4}">
                <adec:decorative xmlns:adec="http://schemas.microsoft.com/office/drawing/2017/decorative" val="1"/>
              </a:ext>
            </a:extLst>
          </p:cNvPr>
          <p:cNvPicPr>
            <a:picLocks noChangeAspect="1"/>
          </p:cNvPicPr>
          <p:nvPr/>
        </p:nvPicPr>
        <p:blipFill rotWithShape="1">
          <a:blip r:embed="rId5">
            <a:extLst>
              <a:ext uri="{28A0092B-C50C-407E-A947-70E740481C1C}">
                <a14:useLocalDpi xmlns:a14="http://schemas.microsoft.com/office/drawing/2010/main" val="0"/>
              </a:ext>
            </a:extLst>
          </a:blip>
          <a:srcRect b="-1"/>
          <a:stretch/>
        </p:blipFill>
        <p:spPr>
          <a:xfrm>
            <a:off x="-8622" y="10"/>
            <a:ext cx="6096000" cy="6857990"/>
          </a:xfrm>
          <a:prstGeom prst="rect">
            <a:avLst/>
          </a:prstGeom>
        </p:spPr>
      </p:pic>
      <p:pic>
        <p:nvPicPr>
          <p:cNvPr id="57" name="Picture 56">
            <a:extLst>
              <a:ext uri="{FF2B5EF4-FFF2-40B4-BE49-F238E27FC236}">
                <a16:creationId xmlns:a16="http://schemas.microsoft.com/office/drawing/2014/main" id="{B536FA4E-0152-4E27-91DA-0FC22D1846B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a:stretch/>
        </p:blipFill>
        <p:spPr>
          <a:xfrm>
            <a:off x="6257026" y="1"/>
            <a:ext cx="5934973" cy="6858000"/>
          </a:xfrm>
          <a:prstGeom prst="rect">
            <a:avLst/>
          </a:prstGeom>
        </p:spPr>
      </p:pic>
      <p:sp>
        <p:nvSpPr>
          <p:cNvPr id="2" name="Title 1">
            <a:extLst>
              <a:ext uri="{FF2B5EF4-FFF2-40B4-BE49-F238E27FC236}">
                <a16:creationId xmlns:a16="http://schemas.microsoft.com/office/drawing/2014/main" id="{89559F60-4CE1-4E2F-86EA-1B60679F1F4A}"/>
              </a:ext>
            </a:extLst>
          </p:cNvPr>
          <p:cNvSpPr>
            <a:spLocks noGrp="1"/>
          </p:cNvSpPr>
          <p:nvPr>
            <p:ph type="title"/>
          </p:nvPr>
        </p:nvSpPr>
        <p:spPr>
          <a:xfrm>
            <a:off x="6900493" y="609600"/>
            <a:ext cx="4538124" cy="970450"/>
          </a:xfrm>
        </p:spPr>
        <p:txBody>
          <a:bodyPr anchor="b">
            <a:normAutofit/>
          </a:bodyPr>
          <a:lstStyle/>
          <a:p>
            <a:r>
              <a:rPr lang="en-US" sz="4000" dirty="0"/>
              <a:t>Brief Description</a:t>
            </a:r>
          </a:p>
        </p:txBody>
      </p:sp>
      <p:sp>
        <p:nvSpPr>
          <p:cNvPr id="24" name="Content Placeholder 2">
            <a:extLst>
              <a:ext uri="{FF2B5EF4-FFF2-40B4-BE49-F238E27FC236}">
                <a16:creationId xmlns:a16="http://schemas.microsoft.com/office/drawing/2014/main" id="{F260476B-CCA6-412B-A9C5-399C34AE6F05}"/>
              </a:ext>
            </a:extLst>
          </p:cNvPr>
          <p:cNvSpPr>
            <a:spLocks noGrp="1"/>
          </p:cNvSpPr>
          <p:nvPr>
            <p:ph idx="1"/>
          </p:nvPr>
        </p:nvSpPr>
        <p:spPr>
          <a:xfrm>
            <a:off x="6410632" y="1732449"/>
            <a:ext cx="5643716" cy="3999757"/>
          </a:xfrm>
        </p:spPr>
        <p:txBody>
          <a:bodyPr anchor="t">
            <a:normAutofit/>
          </a:bodyPr>
          <a:lstStyle/>
          <a:p>
            <a:pPr marL="36900" lvl="0" indent="0" algn="ctr">
              <a:buNone/>
            </a:pPr>
            <a:r>
              <a:rPr lang="en-US" sz="2400" u="sng" dirty="0"/>
              <a:t>Problem Statement: </a:t>
            </a:r>
            <a:r>
              <a:rPr lang="en-US" sz="2400" b="1" u="sng" dirty="0"/>
              <a:t>The Scheduler’s Path</a:t>
            </a:r>
          </a:p>
          <a:p>
            <a:pPr marL="36900" lvl="0" indent="0" algn="just">
              <a:buNone/>
            </a:pPr>
            <a:r>
              <a:rPr lang="en-US" sz="1800" dirty="0"/>
              <a:t>Through this PowerPoint Presentation, we have tried to explain the different types of Algorithms we have implemented through Code with the help of C Programming Language.  We show the output we have obtained when we implemented the code. The Problem Statement gave us 3 algorithms and we also implemented 3 extra algorithms on our own which have not been mentioned in the Problem Statement itself.</a:t>
            </a:r>
          </a:p>
        </p:txBody>
      </p:sp>
      <p:pic>
        <p:nvPicPr>
          <p:cNvPr id="5" name="Picture 4">
            <a:extLst>
              <a:ext uri="{FF2B5EF4-FFF2-40B4-BE49-F238E27FC236}">
                <a16:creationId xmlns:a16="http://schemas.microsoft.com/office/drawing/2014/main" id="{9F8C297E-FD81-B64E-99F3-472B374EEF5C}"/>
              </a:ext>
            </a:extLst>
          </p:cNvPr>
          <p:cNvPicPr>
            <a:picLocks noChangeAspect="1"/>
          </p:cNvPicPr>
          <p:nvPr/>
        </p:nvPicPr>
        <p:blipFill>
          <a:blip r:embed="rId7"/>
          <a:stretch>
            <a:fillRect/>
          </a:stretch>
        </p:blipFill>
        <p:spPr>
          <a:xfrm>
            <a:off x="993059" y="3086567"/>
            <a:ext cx="4070554" cy="3619642"/>
          </a:xfrm>
          <a:prstGeom prst="rect">
            <a:avLst/>
          </a:prstGeom>
        </p:spPr>
      </p:pic>
      <p:pic>
        <p:nvPicPr>
          <p:cNvPr id="8" name="Picture 7">
            <a:extLst>
              <a:ext uri="{FF2B5EF4-FFF2-40B4-BE49-F238E27FC236}">
                <a16:creationId xmlns:a16="http://schemas.microsoft.com/office/drawing/2014/main" id="{9C08161C-1C64-855F-6BE4-83B30956AC74}"/>
              </a:ext>
            </a:extLst>
          </p:cNvPr>
          <p:cNvPicPr>
            <a:picLocks noChangeAspect="1"/>
          </p:cNvPicPr>
          <p:nvPr/>
        </p:nvPicPr>
        <p:blipFill>
          <a:blip r:embed="rId8"/>
          <a:srcRect r="6211"/>
          <a:stretch>
            <a:fillRect/>
          </a:stretch>
        </p:blipFill>
        <p:spPr>
          <a:xfrm>
            <a:off x="514740" y="77906"/>
            <a:ext cx="5035269" cy="2930765"/>
          </a:xfrm>
          <a:prstGeom prst="rect">
            <a:avLst/>
          </a:prstGeom>
        </p:spPr>
      </p:pic>
    </p:spTree>
    <p:extLst>
      <p:ext uri="{BB962C8B-B14F-4D97-AF65-F5344CB8AC3E}">
        <p14:creationId xmlns:p14="http://schemas.microsoft.com/office/powerpoint/2010/main" val="32202356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C4D6A-14CD-98C6-6C54-0F545AC59565}"/>
              </a:ext>
            </a:extLst>
          </p:cNvPr>
          <p:cNvSpPr>
            <a:spLocks noGrp="1"/>
          </p:cNvSpPr>
          <p:nvPr>
            <p:ph type="title"/>
          </p:nvPr>
        </p:nvSpPr>
        <p:spPr/>
        <p:txBody>
          <a:bodyPr/>
          <a:lstStyle/>
          <a:p>
            <a:r>
              <a:rPr lang="en-IN" dirty="0"/>
              <a:t>CPU Scheduling</a:t>
            </a:r>
          </a:p>
        </p:txBody>
      </p:sp>
      <p:sp>
        <p:nvSpPr>
          <p:cNvPr id="3" name="Content Placeholder 2">
            <a:extLst>
              <a:ext uri="{FF2B5EF4-FFF2-40B4-BE49-F238E27FC236}">
                <a16:creationId xmlns:a16="http://schemas.microsoft.com/office/drawing/2014/main" id="{8CE96A26-6EA6-F566-9410-025231955F25}"/>
              </a:ext>
            </a:extLst>
          </p:cNvPr>
          <p:cNvSpPr>
            <a:spLocks noGrp="1"/>
          </p:cNvSpPr>
          <p:nvPr>
            <p:ph idx="1"/>
          </p:nvPr>
        </p:nvSpPr>
        <p:spPr/>
        <p:txBody>
          <a:bodyPr>
            <a:normAutofit lnSpcReduction="10000"/>
          </a:bodyPr>
          <a:lstStyle/>
          <a:p>
            <a:pPr marL="36900" indent="0" algn="just">
              <a:buNone/>
            </a:pPr>
            <a:r>
              <a:rPr lang="en-US" b="1" dirty="0"/>
              <a:t>CPU Scheduling</a:t>
            </a:r>
            <a:r>
              <a:rPr lang="en-US" dirty="0"/>
              <a:t> is the method used by the operating system to decide </a:t>
            </a:r>
            <a:r>
              <a:rPr lang="en-US" b="1" dirty="0"/>
              <a:t>which process gets the CPU and when</a:t>
            </a:r>
            <a:r>
              <a:rPr lang="en-US" dirty="0"/>
              <a:t>, when multiple processes are ready to execute.</a:t>
            </a:r>
          </a:p>
          <a:p>
            <a:pPr marL="36900" indent="0" algn="just">
              <a:buNone/>
            </a:pPr>
            <a:r>
              <a:rPr lang="en-US" dirty="0"/>
              <a:t>Since the CPU can execute </a:t>
            </a:r>
            <a:r>
              <a:rPr lang="en-US" b="1" dirty="0"/>
              <a:t>only one process at a time</a:t>
            </a:r>
            <a:r>
              <a:rPr lang="en-US" dirty="0"/>
              <a:t>, the OS must schedule them efficiently.</a:t>
            </a:r>
          </a:p>
          <a:p>
            <a:pPr marL="36900" indent="0" algn="just">
              <a:buNone/>
            </a:pPr>
            <a:r>
              <a:rPr lang="en-US" dirty="0"/>
              <a:t>Why we need CPU Scheduling?</a:t>
            </a:r>
          </a:p>
          <a:p>
            <a:pPr algn="just"/>
            <a:r>
              <a:rPr lang="en-US" dirty="0"/>
              <a:t>Multiple Programs run at the same time.</a:t>
            </a:r>
          </a:p>
          <a:p>
            <a:pPr algn="just"/>
            <a:r>
              <a:rPr lang="en-US" dirty="0"/>
              <a:t>To avoid CPU being idle.</a:t>
            </a:r>
          </a:p>
          <a:p>
            <a:pPr algn="just"/>
            <a:r>
              <a:rPr lang="en-US" dirty="0"/>
              <a:t>To Improve Performance and User Experience</a:t>
            </a:r>
          </a:p>
          <a:p>
            <a:pPr algn="just"/>
            <a:endParaRPr lang="en-IN" dirty="0"/>
          </a:p>
        </p:txBody>
      </p:sp>
    </p:spTree>
    <p:extLst>
      <p:ext uri="{BB962C8B-B14F-4D97-AF65-F5344CB8AC3E}">
        <p14:creationId xmlns:p14="http://schemas.microsoft.com/office/powerpoint/2010/main" val="1479130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13F232-A7B3-E75F-2E23-A2DB6A5761D2}"/>
              </a:ext>
            </a:extLst>
          </p:cNvPr>
          <p:cNvSpPr>
            <a:spLocks noGrp="1"/>
          </p:cNvSpPr>
          <p:nvPr>
            <p:ph type="title"/>
          </p:nvPr>
        </p:nvSpPr>
        <p:spPr/>
        <p:txBody>
          <a:bodyPr>
            <a:normAutofit/>
          </a:bodyPr>
          <a:lstStyle/>
          <a:p>
            <a:r>
              <a:rPr lang="en-IN" dirty="0"/>
              <a:t>Algorithms Implemented</a:t>
            </a:r>
          </a:p>
        </p:txBody>
      </p:sp>
      <p:sp>
        <p:nvSpPr>
          <p:cNvPr id="3" name="Content Placeholder 2">
            <a:extLst>
              <a:ext uri="{FF2B5EF4-FFF2-40B4-BE49-F238E27FC236}">
                <a16:creationId xmlns:a16="http://schemas.microsoft.com/office/drawing/2014/main" id="{7E9B4564-52A7-323D-5810-9328EFF1FB98}"/>
              </a:ext>
            </a:extLst>
          </p:cNvPr>
          <p:cNvSpPr>
            <a:spLocks noGrp="1"/>
          </p:cNvSpPr>
          <p:nvPr>
            <p:ph sz="half" idx="1"/>
          </p:nvPr>
        </p:nvSpPr>
        <p:spPr/>
        <p:txBody>
          <a:bodyPr>
            <a:normAutofit/>
          </a:bodyPr>
          <a:lstStyle/>
          <a:p>
            <a:pPr marL="36900" indent="0">
              <a:buNone/>
            </a:pPr>
            <a:r>
              <a:rPr lang="en-IN" sz="2800" b="1" dirty="0"/>
              <a:t>Problem Statement Algorithms:</a:t>
            </a:r>
          </a:p>
          <a:p>
            <a:r>
              <a:rPr lang="en-IN" sz="2800" i="1" dirty="0"/>
              <a:t>First Come First Serve (FCFS)</a:t>
            </a:r>
          </a:p>
          <a:p>
            <a:r>
              <a:rPr lang="en-IN" sz="2800" i="1" dirty="0"/>
              <a:t>Shortest Job First (SJF)</a:t>
            </a:r>
          </a:p>
          <a:p>
            <a:r>
              <a:rPr lang="en-IN" sz="2800" i="1" dirty="0"/>
              <a:t>Round Robin (RR)</a:t>
            </a:r>
          </a:p>
        </p:txBody>
      </p:sp>
      <p:sp>
        <p:nvSpPr>
          <p:cNvPr id="4" name="Content Placeholder 3">
            <a:extLst>
              <a:ext uri="{FF2B5EF4-FFF2-40B4-BE49-F238E27FC236}">
                <a16:creationId xmlns:a16="http://schemas.microsoft.com/office/drawing/2014/main" id="{2911668B-0A0F-D989-EDB7-E346F8BD80C1}"/>
              </a:ext>
            </a:extLst>
          </p:cNvPr>
          <p:cNvSpPr>
            <a:spLocks noGrp="1"/>
          </p:cNvSpPr>
          <p:nvPr>
            <p:ph sz="half" idx="2"/>
          </p:nvPr>
        </p:nvSpPr>
        <p:spPr/>
        <p:txBody>
          <a:bodyPr>
            <a:normAutofit/>
          </a:bodyPr>
          <a:lstStyle/>
          <a:p>
            <a:pPr marL="36900" indent="0">
              <a:buNone/>
            </a:pPr>
            <a:r>
              <a:rPr lang="en-IN" sz="2800" b="1" dirty="0"/>
              <a:t>Algorithms Implemented on our Own:</a:t>
            </a:r>
          </a:p>
          <a:p>
            <a:r>
              <a:rPr lang="en-IN" sz="2800" i="1" dirty="0"/>
              <a:t>Shortest Remaining Job First (SRJF)</a:t>
            </a:r>
          </a:p>
          <a:p>
            <a:r>
              <a:rPr lang="en-IN" sz="2800" i="1" dirty="0"/>
              <a:t>Longest Job First (LJF)</a:t>
            </a:r>
          </a:p>
          <a:p>
            <a:r>
              <a:rPr lang="en-IN" sz="2800" i="1" dirty="0"/>
              <a:t>Multi-Level Queue (MLQ)</a:t>
            </a:r>
          </a:p>
          <a:p>
            <a:endParaRPr lang="en-IN" sz="2800" dirty="0"/>
          </a:p>
        </p:txBody>
      </p:sp>
    </p:spTree>
    <p:extLst>
      <p:ext uri="{BB962C8B-B14F-4D97-AF65-F5344CB8AC3E}">
        <p14:creationId xmlns:p14="http://schemas.microsoft.com/office/powerpoint/2010/main" val="19722479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8607CE-A078-9FC9-7E83-E8C8AB9AFC7F}"/>
              </a:ext>
            </a:extLst>
          </p:cNvPr>
          <p:cNvSpPr>
            <a:spLocks noGrp="1"/>
          </p:cNvSpPr>
          <p:nvPr>
            <p:ph type="title"/>
          </p:nvPr>
        </p:nvSpPr>
        <p:spPr>
          <a:xfrm>
            <a:off x="913795" y="147484"/>
            <a:ext cx="10353762" cy="1257300"/>
          </a:xfrm>
        </p:spPr>
        <p:txBody>
          <a:bodyPr/>
          <a:lstStyle/>
          <a:p>
            <a:r>
              <a:rPr lang="en-IN" dirty="0"/>
              <a:t>Algorithms Explained (Problem Statement)</a:t>
            </a:r>
          </a:p>
        </p:txBody>
      </p:sp>
      <p:sp>
        <p:nvSpPr>
          <p:cNvPr id="3" name="Content Placeholder 2">
            <a:extLst>
              <a:ext uri="{FF2B5EF4-FFF2-40B4-BE49-F238E27FC236}">
                <a16:creationId xmlns:a16="http://schemas.microsoft.com/office/drawing/2014/main" id="{8CDDFE0D-166B-2B4A-6F9E-DE08572B5680}"/>
              </a:ext>
            </a:extLst>
          </p:cNvPr>
          <p:cNvSpPr>
            <a:spLocks noGrp="1"/>
          </p:cNvSpPr>
          <p:nvPr>
            <p:ph idx="1"/>
          </p:nvPr>
        </p:nvSpPr>
        <p:spPr>
          <a:xfrm>
            <a:off x="373019" y="1571625"/>
            <a:ext cx="11396193" cy="4721020"/>
          </a:xfrm>
        </p:spPr>
        <p:txBody>
          <a:bodyPr>
            <a:normAutofit lnSpcReduction="10000"/>
          </a:bodyPr>
          <a:lstStyle/>
          <a:p>
            <a:pPr algn="just"/>
            <a:r>
              <a:rPr lang="en-IN" b="1" dirty="0"/>
              <a:t>First Come First Serve (FCFS): </a:t>
            </a:r>
            <a:r>
              <a:rPr lang="en-US" dirty="0">
                <a:effectLst/>
              </a:rPr>
              <a:t>FCFS stands for </a:t>
            </a:r>
            <a:r>
              <a:rPr lang="en-US" b="1" dirty="0">
                <a:effectLst/>
              </a:rPr>
              <a:t>First Come First Served (FCFS)</a:t>
            </a:r>
            <a:r>
              <a:rPr lang="en-US" dirty="0">
                <a:effectLst/>
              </a:rPr>
              <a:t>. First Come First Served (FCFS) is the simplest type of algorithm. It is a non-preemptive algorithm i.e. the process cannot be interrupted once it starts executing. The FCFS is implemented with the help of a FIFO queue. The processes are put into the ready queue in the order of their arrival time.</a:t>
            </a:r>
          </a:p>
          <a:p>
            <a:pPr algn="just"/>
            <a:r>
              <a:rPr lang="en-US" b="1" dirty="0">
                <a:effectLst/>
              </a:rPr>
              <a:t>Shortest Job First (SJF): </a:t>
            </a:r>
            <a:r>
              <a:rPr lang="en-US" dirty="0">
                <a:effectLst/>
              </a:rPr>
              <a:t>SJF stands for </a:t>
            </a:r>
            <a:r>
              <a:rPr lang="en-US" b="1" dirty="0">
                <a:effectLst/>
              </a:rPr>
              <a:t>Shortest Job First (SJF).</a:t>
            </a:r>
            <a:r>
              <a:rPr lang="en-US" dirty="0">
                <a:effectLst/>
              </a:rPr>
              <a:t> Shortest Job First (SJF) Scheduling Algorithm is based upon the burst time of the process. The processes are put into the ready queue based on their burst times. In this algorithm, the process with the least burst time is processed first.</a:t>
            </a:r>
          </a:p>
          <a:p>
            <a:pPr algn="just"/>
            <a:r>
              <a:rPr lang="en-US" b="1" dirty="0">
                <a:effectLst/>
              </a:rPr>
              <a:t>Round Robin (RR): </a:t>
            </a:r>
            <a:r>
              <a:rPr lang="en-US" dirty="0">
                <a:effectLst/>
              </a:rPr>
              <a:t>Round Robin is a CPU scheduling algorithm where each process is cyclically assigned a fixed time slot. It is the preemptive version of the First come First Serve CPU Scheduling algorithm.</a:t>
            </a:r>
            <a:endParaRPr lang="en-US" b="1" dirty="0">
              <a:effectLst/>
            </a:endParaRPr>
          </a:p>
        </p:txBody>
      </p:sp>
    </p:spTree>
    <p:extLst>
      <p:ext uri="{BB962C8B-B14F-4D97-AF65-F5344CB8AC3E}">
        <p14:creationId xmlns:p14="http://schemas.microsoft.com/office/powerpoint/2010/main" val="10701151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91263C-4743-480D-2EFE-56D906EA24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92A43D-2A29-BC4F-302D-2A88C15467CA}"/>
              </a:ext>
            </a:extLst>
          </p:cNvPr>
          <p:cNvSpPr>
            <a:spLocks noGrp="1"/>
          </p:cNvSpPr>
          <p:nvPr>
            <p:ph type="title"/>
          </p:nvPr>
        </p:nvSpPr>
        <p:spPr>
          <a:xfrm>
            <a:off x="913795" y="147484"/>
            <a:ext cx="10353762" cy="1257300"/>
          </a:xfrm>
        </p:spPr>
        <p:txBody>
          <a:bodyPr/>
          <a:lstStyle/>
          <a:p>
            <a:r>
              <a:rPr lang="en-IN" dirty="0"/>
              <a:t>Algorithms Explained (Own Initiative)</a:t>
            </a:r>
          </a:p>
        </p:txBody>
      </p:sp>
      <p:sp>
        <p:nvSpPr>
          <p:cNvPr id="3" name="Content Placeholder 2">
            <a:extLst>
              <a:ext uri="{FF2B5EF4-FFF2-40B4-BE49-F238E27FC236}">
                <a16:creationId xmlns:a16="http://schemas.microsoft.com/office/drawing/2014/main" id="{8C07A48A-27D6-3351-33E8-97423C604BD0}"/>
              </a:ext>
            </a:extLst>
          </p:cNvPr>
          <p:cNvSpPr>
            <a:spLocks noGrp="1"/>
          </p:cNvSpPr>
          <p:nvPr>
            <p:ph idx="1"/>
          </p:nvPr>
        </p:nvSpPr>
        <p:spPr>
          <a:xfrm>
            <a:off x="176981" y="1404784"/>
            <a:ext cx="11847871" cy="5305732"/>
          </a:xfrm>
        </p:spPr>
        <p:txBody>
          <a:bodyPr>
            <a:normAutofit lnSpcReduction="10000"/>
          </a:bodyPr>
          <a:lstStyle/>
          <a:p>
            <a:pPr algn="just"/>
            <a:r>
              <a:rPr lang="en-IN" b="1" dirty="0"/>
              <a:t>Shortest Remaining Job First (SRJF): </a:t>
            </a:r>
            <a:r>
              <a:rPr lang="en-US" dirty="0">
                <a:effectLst/>
              </a:rPr>
              <a:t>The pre-emptive version of Shortest Job First (SJF) scheduling is called Shortest Remaining Job First (SRJF). In SRJF, the process with the least time left to finish is selected to run. The running process continues until it finishes or a new process with a shorter remaining time arrives, ensuring the fastest finishing process always gets priority.</a:t>
            </a:r>
          </a:p>
          <a:p>
            <a:pPr algn="just"/>
            <a:r>
              <a:rPr lang="en-US" b="1" dirty="0">
                <a:effectLst/>
              </a:rPr>
              <a:t>Longest Job First (LJF): </a:t>
            </a:r>
            <a:r>
              <a:rPr lang="en-US" dirty="0">
                <a:effectLst/>
              </a:rPr>
              <a:t>Longest Job First (LJF) is a non-preemptive scheduling algorithm. This algorithm is based on the burst time of the processes. The processes are put into the ready queue based on their burst times i.e., in descending order of the burst times. As the name suggests this algorithm is based on the fact that the process with the largest burst time is processed first. The burst time of only those processes is considered that have arrived in the system until that time.</a:t>
            </a:r>
          </a:p>
          <a:p>
            <a:pPr algn="just"/>
            <a:r>
              <a:rPr lang="en-US" b="1" dirty="0">
                <a:effectLst/>
              </a:rPr>
              <a:t>Multi-Level Queue (MLQ): </a:t>
            </a:r>
            <a:r>
              <a:rPr lang="en-US" dirty="0">
                <a:effectLst/>
              </a:rPr>
              <a:t>Multilevel Queue (MLQ) CPU scheduling is a type of scheduling that is applied at the operating system level with the aim of sectioning types of processes and then being able to manage them properly. As with the MQ Series, processes are grouped into several queues using MLQ based on known parameters such as priority, memory, or type. Every queue has its scheduling policy and processes that are in the same queue are very similar too. </a:t>
            </a:r>
            <a:endParaRPr lang="en-US" b="1" dirty="0">
              <a:effectLst/>
            </a:endParaRPr>
          </a:p>
        </p:txBody>
      </p:sp>
    </p:spTree>
    <p:extLst>
      <p:ext uri="{BB962C8B-B14F-4D97-AF65-F5344CB8AC3E}">
        <p14:creationId xmlns:p14="http://schemas.microsoft.com/office/powerpoint/2010/main" val="31675700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2701B02-6991-03DD-906A-CC821C7C7E67}"/>
              </a:ext>
            </a:extLst>
          </p:cNvPr>
          <p:cNvPicPr>
            <a:picLocks noChangeAspect="1"/>
          </p:cNvPicPr>
          <p:nvPr/>
        </p:nvPicPr>
        <p:blipFill>
          <a:blip r:embed="rId2"/>
          <a:stretch>
            <a:fillRect/>
          </a:stretch>
        </p:blipFill>
        <p:spPr>
          <a:xfrm>
            <a:off x="3020116" y="179943"/>
            <a:ext cx="6151768" cy="6498114"/>
          </a:xfrm>
          <a:prstGeom prst="rect">
            <a:avLst/>
          </a:prstGeom>
        </p:spPr>
      </p:pic>
    </p:spTree>
    <p:extLst>
      <p:ext uri="{BB962C8B-B14F-4D97-AF65-F5344CB8AC3E}">
        <p14:creationId xmlns:p14="http://schemas.microsoft.com/office/powerpoint/2010/main" val="4583799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A46DF7-DF35-E386-0CB2-4A2961ED42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D5FA1B-03AD-33EF-F73B-74382DB008A3}"/>
              </a:ext>
            </a:extLst>
          </p:cNvPr>
          <p:cNvSpPr>
            <a:spLocks noGrp="1"/>
          </p:cNvSpPr>
          <p:nvPr>
            <p:ph type="title"/>
          </p:nvPr>
        </p:nvSpPr>
        <p:spPr>
          <a:xfrm>
            <a:off x="913795" y="0"/>
            <a:ext cx="10353762" cy="1257300"/>
          </a:xfrm>
        </p:spPr>
        <p:txBody>
          <a:bodyPr>
            <a:normAutofit/>
          </a:bodyPr>
          <a:lstStyle/>
          <a:p>
            <a:r>
              <a:rPr lang="en-IN" dirty="0"/>
              <a:t>First Come First Serve (FCFS)</a:t>
            </a:r>
          </a:p>
        </p:txBody>
      </p:sp>
      <p:pic>
        <p:nvPicPr>
          <p:cNvPr id="5" name="Picture 4">
            <a:extLst>
              <a:ext uri="{FF2B5EF4-FFF2-40B4-BE49-F238E27FC236}">
                <a16:creationId xmlns:a16="http://schemas.microsoft.com/office/drawing/2014/main" id="{D0E81C87-F008-35C0-92C9-8999E74BCB97}"/>
              </a:ext>
            </a:extLst>
          </p:cNvPr>
          <p:cNvPicPr>
            <a:picLocks noChangeAspect="1"/>
          </p:cNvPicPr>
          <p:nvPr/>
        </p:nvPicPr>
        <p:blipFill>
          <a:blip r:embed="rId2"/>
          <a:stretch>
            <a:fillRect/>
          </a:stretch>
        </p:blipFill>
        <p:spPr>
          <a:xfrm>
            <a:off x="3445665" y="1009312"/>
            <a:ext cx="5300670" cy="5668927"/>
          </a:xfrm>
          <a:prstGeom prst="rect">
            <a:avLst/>
          </a:prstGeom>
          <a:ln w="19050">
            <a:solidFill>
              <a:srgbClr val="0C0C0C"/>
            </a:solidFill>
          </a:ln>
        </p:spPr>
      </p:pic>
    </p:spTree>
    <p:extLst>
      <p:ext uri="{BB962C8B-B14F-4D97-AF65-F5344CB8AC3E}">
        <p14:creationId xmlns:p14="http://schemas.microsoft.com/office/powerpoint/2010/main" val="6577312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43C395-DFDD-94D9-6E74-FD80B73C91BB}"/>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7B043F5B-4543-3F83-40EF-06087156A7CE}"/>
              </a:ext>
            </a:extLst>
          </p:cNvPr>
          <p:cNvPicPr>
            <a:picLocks noChangeAspect="1"/>
          </p:cNvPicPr>
          <p:nvPr/>
        </p:nvPicPr>
        <p:blipFill>
          <a:blip r:embed="rId2"/>
          <a:stretch>
            <a:fillRect/>
          </a:stretch>
        </p:blipFill>
        <p:spPr>
          <a:xfrm>
            <a:off x="1813915" y="642548"/>
            <a:ext cx="8564170" cy="5572903"/>
          </a:xfrm>
          <a:prstGeom prst="rect">
            <a:avLst/>
          </a:prstGeom>
        </p:spPr>
      </p:pic>
    </p:spTree>
    <p:extLst>
      <p:ext uri="{BB962C8B-B14F-4D97-AF65-F5344CB8AC3E}">
        <p14:creationId xmlns:p14="http://schemas.microsoft.com/office/powerpoint/2010/main" val="40041768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BD9548-95BF-E152-1C0A-E1EA0DCD0D2F}"/>
              </a:ext>
            </a:extLst>
          </p:cNvPr>
          <p:cNvSpPr>
            <a:spLocks noGrp="1"/>
          </p:cNvSpPr>
          <p:nvPr>
            <p:ph type="title"/>
          </p:nvPr>
        </p:nvSpPr>
        <p:spPr>
          <a:xfrm>
            <a:off x="913795" y="0"/>
            <a:ext cx="10353762" cy="1257300"/>
          </a:xfrm>
        </p:spPr>
        <p:txBody>
          <a:bodyPr>
            <a:normAutofit/>
          </a:bodyPr>
          <a:lstStyle/>
          <a:p>
            <a:r>
              <a:rPr lang="en-IN" dirty="0"/>
              <a:t>Shortest Job First (SJF)</a:t>
            </a:r>
          </a:p>
        </p:txBody>
      </p:sp>
      <p:pic>
        <p:nvPicPr>
          <p:cNvPr id="4" name="Picture 3" descr="A screenshot of a computer&#10;&#10;AI-generated content may be incorrect.">
            <a:extLst>
              <a:ext uri="{FF2B5EF4-FFF2-40B4-BE49-F238E27FC236}">
                <a16:creationId xmlns:a16="http://schemas.microsoft.com/office/drawing/2014/main" id="{A5C14800-01E2-49E1-5726-99AD8D538D5A}"/>
              </a:ext>
            </a:extLst>
          </p:cNvPr>
          <p:cNvPicPr>
            <a:picLocks noChangeAspect="1"/>
          </p:cNvPicPr>
          <p:nvPr/>
        </p:nvPicPr>
        <p:blipFill>
          <a:blip r:embed="rId2"/>
          <a:stretch>
            <a:fillRect/>
          </a:stretch>
        </p:blipFill>
        <p:spPr>
          <a:xfrm>
            <a:off x="3418855" y="1019451"/>
            <a:ext cx="5354289" cy="5712736"/>
          </a:xfrm>
          <a:prstGeom prst="rect">
            <a:avLst/>
          </a:prstGeom>
          <a:ln w="19050">
            <a:solidFill>
              <a:schemeClr val="tx1"/>
            </a:solidFill>
          </a:ln>
        </p:spPr>
      </p:pic>
    </p:spTree>
    <p:extLst>
      <p:ext uri="{BB962C8B-B14F-4D97-AF65-F5344CB8AC3E}">
        <p14:creationId xmlns:p14="http://schemas.microsoft.com/office/powerpoint/2010/main" val="15891447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C33D86-EF53-ED94-C78A-F8C713D18E3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5DB06F43-9B8D-0175-4DBC-75AE56025879}"/>
              </a:ext>
            </a:extLst>
          </p:cNvPr>
          <p:cNvPicPr>
            <a:picLocks noChangeAspect="1"/>
          </p:cNvPicPr>
          <p:nvPr/>
        </p:nvPicPr>
        <p:blipFill>
          <a:blip r:embed="rId2"/>
          <a:stretch>
            <a:fillRect/>
          </a:stretch>
        </p:blipFill>
        <p:spPr>
          <a:xfrm>
            <a:off x="1809152" y="642548"/>
            <a:ext cx="8573696" cy="5572903"/>
          </a:xfrm>
          <a:prstGeom prst="rect">
            <a:avLst/>
          </a:prstGeom>
        </p:spPr>
      </p:pic>
    </p:spTree>
    <p:extLst>
      <p:ext uri="{BB962C8B-B14F-4D97-AF65-F5344CB8AC3E}">
        <p14:creationId xmlns:p14="http://schemas.microsoft.com/office/powerpoint/2010/main" val="24384988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17F97C-39D0-8EC5-F176-52D9CB046D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D54B7E-A83A-0547-B1C2-2E106B5E0800}"/>
              </a:ext>
            </a:extLst>
          </p:cNvPr>
          <p:cNvSpPr>
            <a:spLocks noGrp="1"/>
          </p:cNvSpPr>
          <p:nvPr>
            <p:ph type="title"/>
          </p:nvPr>
        </p:nvSpPr>
        <p:spPr>
          <a:xfrm>
            <a:off x="913795" y="0"/>
            <a:ext cx="10353762" cy="1257300"/>
          </a:xfrm>
        </p:spPr>
        <p:txBody>
          <a:bodyPr>
            <a:normAutofit/>
          </a:bodyPr>
          <a:lstStyle/>
          <a:p>
            <a:r>
              <a:rPr lang="en-IN" dirty="0"/>
              <a:t>Round Robin (RR)</a:t>
            </a:r>
          </a:p>
        </p:txBody>
      </p:sp>
      <p:pic>
        <p:nvPicPr>
          <p:cNvPr id="5" name="Picture 4" descr="A screenshot of a computer program&#10;&#10;AI-generated content may be incorrect.">
            <a:extLst>
              <a:ext uri="{FF2B5EF4-FFF2-40B4-BE49-F238E27FC236}">
                <a16:creationId xmlns:a16="http://schemas.microsoft.com/office/drawing/2014/main" id="{2CBD0EAC-CF8A-87EA-F985-0A5E2878B8E4}"/>
              </a:ext>
            </a:extLst>
          </p:cNvPr>
          <p:cNvPicPr>
            <a:picLocks noChangeAspect="1"/>
          </p:cNvPicPr>
          <p:nvPr/>
        </p:nvPicPr>
        <p:blipFill>
          <a:blip r:embed="rId2"/>
          <a:stretch>
            <a:fillRect/>
          </a:stretch>
        </p:blipFill>
        <p:spPr>
          <a:xfrm>
            <a:off x="3396809" y="917283"/>
            <a:ext cx="5398381" cy="5826644"/>
          </a:xfrm>
          <a:prstGeom prst="rect">
            <a:avLst/>
          </a:prstGeom>
          <a:ln w="19050">
            <a:solidFill>
              <a:schemeClr val="tx1"/>
            </a:solidFill>
          </a:ln>
        </p:spPr>
      </p:pic>
    </p:spTree>
    <p:extLst>
      <p:ext uri="{BB962C8B-B14F-4D97-AF65-F5344CB8AC3E}">
        <p14:creationId xmlns:p14="http://schemas.microsoft.com/office/powerpoint/2010/main" val="33740546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E25B4A-0335-D5A8-4602-5FE357564482}"/>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3982879-DBD2-3BF2-7F53-C2B2987DF7C6}"/>
              </a:ext>
            </a:extLst>
          </p:cNvPr>
          <p:cNvPicPr>
            <a:picLocks noChangeAspect="1"/>
          </p:cNvPicPr>
          <p:nvPr/>
        </p:nvPicPr>
        <p:blipFill>
          <a:blip r:embed="rId2"/>
          <a:stretch>
            <a:fillRect/>
          </a:stretch>
        </p:blipFill>
        <p:spPr>
          <a:xfrm>
            <a:off x="1885362" y="656838"/>
            <a:ext cx="8421275" cy="5544324"/>
          </a:xfrm>
          <a:prstGeom prst="rect">
            <a:avLst/>
          </a:prstGeom>
        </p:spPr>
      </p:pic>
    </p:spTree>
    <p:extLst>
      <p:ext uri="{BB962C8B-B14F-4D97-AF65-F5344CB8AC3E}">
        <p14:creationId xmlns:p14="http://schemas.microsoft.com/office/powerpoint/2010/main" val="32067904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51B655-B3F1-B328-881C-34586DE9D3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3AC097-6171-648E-6CA0-B193EBFD7FA2}"/>
              </a:ext>
            </a:extLst>
          </p:cNvPr>
          <p:cNvSpPr>
            <a:spLocks noGrp="1"/>
          </p:cNvSpPr>
          <p:nvPr>
            <p:ph type="title"/>
          </p:nvPr>
        </p:nvSpPr>
        <p:spPr>
          <a:xfrm>
            <a:off x="913795" y="0"/>
            <a:ext cx="10353762" cy="1257300"/>
          </a:xfrm>
        </p:spPr>
        <p:txBody>
          <a:bodyPr>
            <a:normAutofit/>
          </a:bodyPr>
          <a:lstStyle/>
          <a:p>
            <a:r>
              <a:rPr lang="en-IN" dirty="0"/>
              <a:t>Shortest Remaining Job First (SRJF)</a:t>
            </a:r>
          </a:p>
        </p:txBody>
      </p:sp>
      <p:pic>
        <p:nvPicPr>
          <p:cNvPr id="5" name="Picture 4" descr="A screenshot of a computer&#10;&#10;AI-generated content may be incorrect.">
            <a:extLst>
              <a:ext uri="{FF2B5EF4-FFF2-40B4-BE49-F238E27FC236}">
                <a16:creationId xmlns:a16="http://schemas.microsoft.com/office/drawing/2014/main" id="{507550D8-B250-A6D6-1928-CDD01B99D35F}"/>
              </a:ext>
            </a:extLst>
          </p:cNvPr>
          <p:cNvPicPr>
            <a:picLocks noChangeAspect="1"/>
          </p:cNvPicPr>
          <p:nvPr/>
        </p:nvPicPr>
        <p:blipFill>
          <a:blip r:embed="rId2"/>
          <a:stretch>
            <a:fillRect/>
          </a:stretch>
        </p:blipFill>
        <p:spPr>
          <a:xfrm>
            <a:off x="1474944" y="1140496"/>
            <a:ext cx="9242112" cy="5534824"/>
          </a:xfrm>
          <a:prstGeom prst="rect">
            <a:avLst/>
          </a:prstGeom>
          <a:ln w="19050">
            <a:solidFill>
              <a:schemeClr val="tx1"/>
            </a:solidFill>
          </a:ln>
        </p:spPr>
      </p:pic>
    </p:spTree>
    <p:extLst>
      <p:ext uri="{BB962C8B-B14F-4D97-AF65-F5344CB8AC3E}">
        <p14:creationId xmlns:p14="http://schemas.microsoft.com/office/powerpoint/2010/main" val="19555227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88B2D-D16E-42AF-5AF4-FA2DCECC9FE2}"/>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DDE29040-12A5-BA92-742F-3343CF91555E}"/>
              </a:ext>
            </a:extLst>
          </p:cNvPr>
          <p:cNvPicPr>
            <a:picLocks noChangeAspect="1"/>
          </p:cNvPicPr>
          <p:nvPr/>
        </p:nvPicPr>
        <p:blipFill>
          <a:blip r:embed="rId2"/>
          <a:stretch>
            <a:fillRect/>
          </a:stretch>
        </p:blipFill>
        <p:spPr>
          <a:xfrm>
            <a:off x="1918704" y="680654"/>
            <a:ext cx="8354591" cy="5496692"/>
          </a:xfrm>
          <a:prstGeom prst="rect">
            <a:avLst/>
          </a:prstGeom>
        </p:spPr>
      </p:pic>
    </p:spTree>
    <p:extLst>
      <p:ext uri="{BB962C8B-B14F-4D97-AF65-F5344CB8AC3E}">
        <p14:creationId xmlns:p14="http://schemas.microsoft.com/office/powerpoint/2010/main" val="4722953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32B496-1CB9-E767-8095-749142A247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A7D8C3-DEE9-A189-206C-6A82ED7922B7}"/>
              </a:ext>
            </a:extLst>
          </p:cNvPr>
          <p:cNvSpPr>
            <a:spLocks noGrp="1"/>
          </p:cNvSpPr>
          <p:nvPr>
            <p:ph type="title"/>
          </p:nvPr>
        </p:nvSpPr>
        <p:spPr>
          <a:xfrm>
            <a:off x="913795" y="0"/>
            <a:ext cx="10353762" cy="1257300"/>
          </a:xfrm>
        </p:spPr>
        <p:txBody>
          <a:bodyPr>
            <a:normAutofit/>
          </a:bodyPr>
          <a:lstStyle/>
          <a:p>
            <a:r>
              <a:rPr lang="en-IN" dirty="0"/>
              <a:t>Longest Job First (LJF)</a:t>
            </a:r>
          </a:p>
        </p:txBody>
      </p:sp>
      <p:pic>
        <p:nvPicPr>
          <p:cNvPr id="5" name="Picture 4" descr="A computer screen shot of a number&#10;&#10;AI-generated content may be incorrect.">
            <a:extLst>
              <a:ext uri="{FF2B5EF4-FFF2-40B4-BE49-F238E27FC236}">
                <a16:creationId xmlns:a16="http://schemas.microsoft.com/office/drawing/2014/main" id="{C31B7F56-6EC0-98C0-AA9A-E0B90F8DFFC7}"/>
              </a:ext>
            </a:extLst>
          </p:cNvPr>
          <p:cNvPicPr>
            <a:picLocks noChangeAspect="1"/>
          </p:cNvPicPr>
          <p:nvPr/>
        </p:nvPicPr>
        <p:blipFill>
          <a:blip r:embed="rId2"/>
          <a:srcRect b="19106"/>
          <a:stretch>
            <a:fillRect/>
          </a:stretch>
        </p:blipFill>
        <p:spPr>
          <a:xfrm>
            <a:off x="2423736" y="951542"/>
            <a:ext cx="7344528" cy="5645903"/>
          </a:xfrm>
          <a:prstGeom prst="rect">
            <a:avLst/>
          </a:prstGeom>
          <a:ln w="28575">
            <a:solidFill>
              <a:schemeClr val="tx1"/>
            </a:solidFill>
          </a:ln>
        </p:spPr>
      </p:pic>
    </p:spTree>
    <p:extLst>
      <p:ext uri="{BB962C8B-B14F-4D97-AF65-F5344CB8AC3E}">
        <p14:creationId xmlns:p14="http://schemas.microsoft.com/office/powerpoint/2010/main" val="37418190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6674FD-8DC7-1876-581D-9342C67DC3A9}"/>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0DCB5E52-64BE-69DF-2677-961D743A3851}"/>
              </a:ext>
            </a:extLst>
          </p:cNvPr>
          <p:cNvPicPr>
            <a:picLocks noChangeAspect="1"/>
          </p:cNvPicPr>
          <p:nvPr/>
        </p:nvPicPr>
        <p:blipFill>
          <a:blip r:embed="rId2"/>
          <a:stretch>
            <a:fillRect/>
          </a:stretch>
        </p:blipFill>
        <p:spPr>
          <a:xfrm>
            <a:off x="1387744" y="810340"/>
            <a:ext cx="9416511" cy="5374972"/>
          </a:xfrm>
          <a:prstGeom prst="rect">
            <a:avLst/>
          </a:prstGeom>
        </p:spPr>
      </p:pic>
    </p:spTree>
    <p:extLst>
      <p:ext uri="{BB962C8B-B14F-4D97-AF65-F5344CB8AC3E}">
        <p14:creationId xmlns:p14="http://schemas.microsoft.com/office/powerpoint/2010/main" val="39761611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1264FC-E45D-FFA0-7129-103B2CC6D8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D52402-229C-0481-B72D-5AD6C5BE20D2}"/>
              </a:ext>
            </a:extLst>
          </p:cNvPr>
          <p:cNvSpPr>
            <a:spLocks noGrp="1"/>
          </p:cNvSpPr>
          <p:nvPr>
            <p:ph type="title"/>
          </p:nvPr>
        </p:nvSpPr>
        <p:spPr>
          <a:xfrm>
            <a:off x="913795" y="0"/>
            <a:ext cx="10353762" cy="1257300"/>
          </a:xfrm>
        </p:spPr>
        <p:txBody>
          <a:bodyPr>
            <a:normAutofit/>
          </a:bodyPr>
          <a:lstStyle/>
          <a:p>
            <a:r>
              <a:rPr lang="en-IN" dirty="0"/>
              <a:t>Multi-Level Queue (MLQ) Flowchart</a:t>
            </a:r>
          </a:p>
        </p:txBody>
      </p:sp>
      <p:pic>
        <p:nvPicPr>
          <p:cNvPr id="4" name="Picture 3">
            <a:extLst>
              <a:ext uri="{FF2B5EF4-FFF2-40B4-BE49-F238E27FC236}">
                <a16:creationId xmlns:a16="http://schemas.microsoft.com/office/drawing/2014/main" id="{8A6207DC-F240-F55C-A2F9-F2670A495405}"/>
              </a:ext>
            </a:extLst>
          </p:cNvPr>
          <p:cNvPicPr>
            <a:picLocks noChangeAspect="1"/>
          </p:cNvPicPr>
          <p:nvPr/>
        </p:nvPicPr>
        <p:blipFill>
          <a:blip r:embed="rId2"/>
          <a:stretch>
            <a:fillRect/>
          </a:stretch>
        </p:blipFill>
        <p:spPr>
          <a:xfrm>
            <a:off x="4248573" y="961810"/>
            <a:ext cx="3694854" cy="5789342"/>
          </a:xfrm>
          <a:prstGeom prst="rect">
            <a:avLst/>
          </a:prstGeom>
        </p:spPr>
      </p:pic>
    </p:spTree>
    <p:extLst>
      <p:ext uri="{BB962C8B-B14F-4D97-AF65-F5344CB8AC3E}">
        <p14:creationId xmlns:p14="http://schemas.microsoft.com/office/powerpoint/2010/main" val="2081548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5E9B55-47AB-0878-C7AA-D438FF8833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4E9C00-DE33-ADCD-CDDC-32EF5AF8A634}"/>
              </a:ext>
            </a:extLst>
          </p:cNvPr>
          <p:cNvSpPr>
            <a:spLocks noGrp="1"/>
          </p:cNvSpPr>
          <p:nvPr>
            <p:ph type="title"/>
          </p:nvPr>
        </p:nvSpPr>
        <p:spPr>
          <a:xfrm>
            <a:off x="913795" y="0"/>
            <a:ext cx="10353762" cy="1257300"/>
          </a:xfrm>
        </p:spPr>
        <p:txBody>
          <a:bodyPr>
            <a:normAutofit/>
          </a:bodyPr>
          <a:lstStyle/>
          <a:p>
            <a:r>
              <a:rPr lang="en-IN" dirty="0"/>
              <a:t>Multi-Level Queue (MLQ)</a:t>
            </a:r>
          </a:p>
        </p:txBody>
      </p:sp>
      <p:pic>
        <p:nvPicPr>
          <p:cNvPr id="4" name="Picture 3">
            <a:extLst>
              <a:ext uri="{FF2B5EF4-FFF2-40B4-BE49-F238E27FC236}">
                <a16:creationId xmlns:a16="http://schemas.microsoft.com/office/drawing/2014/main" id="{5027ED7E-C4C1-4B41-A280-2751CCDE4E48}"/>
              </a:ext>
            </a:extLst>
          </p:cNvPr>
          <p:cNvPicPr>
            <a:picLocks noChangeAspect="1"/>
          </p:cNvPicPr>
          <p:nvPr/>
        </p:nvPicPr>
        <p:blipFill>
          <a:blip r:embed="rId2"/>
          <a:srcRect b="18714"/>
          <a:stretch>
            <a:fillRect/>
          </a:stretch>
        </p:blipFill>
        <p:spPr>
          <a:xfrm>
            <a:off x="235716" y="932416"/>
            <a:ext cx="6853342" cy="5797673"/>
          </a:xfrm>
          <a:prstGeom prst="rect">
            <a:avLst/>
          </a:prstGeom>
          <a:ln w="19050">
            <a:solidFill>
              <a:schemeClr val="tx1"/>
            </a:solidFill>
          </a:ln>
        </p:spPr>
      </p:pic>
      <p:pic>
        <p:nvPicPr>
          <p:cNvPr id="6" name="Picture 5">
            <a:extLst>
              <a:ext uri="{FF2B5EF4-FFF2-40B4-BE49-F238E27FC236}">
                <a16:creationId xmlns:a16="http://schemas.microsoft.com/office/drawing/2014/main" id="{9C1D77D6-C4AC-36AE-D9D7-E6D0D06FC26F}"/>
              </a:ext>
            </a:extLst>
          </p:cNvPr>
          <p:cNvPicPr>
            <a:picLocks noChangeAspect="1"/>
          </p:cNvPicPr>
          <p:nvPr/>
        </p:nvPicPr>
        <p:blipFill>
          <a:blip r:embed="rId3"/>
          <a:stretch>
            <a:fillRect/>
          </a:stretch>
        </p:blipFill>
        <p:spPr>
          <a:xfrm>
            <a:off x="7157884" y="2986595"/>
            <a:ext cx="4467849" cy="1533739"/>
          </a:xfrm>
          <a:prstGeom prst="rect">
            <a:avLst/>
          </a:prstGeom>
          <a:ln w="19050">
            <a:solidFill>
              <a:schemeClr val="tx1"/>
            </a:solidFill>
          </a:ln>
        </p:spPr>
      </p:pic>
    </p:spTree>
    <p:extLst>
      <p:ext uri="{BB962C8B-B14F-4D97-AF65-F5344CB8AC3E}">
        <p14:creationId xmlns:p14="http://schemas.microsoft.com/office/powerpoint/2010/main" val="2302695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7E244D-7CE2-A8EB-1553-CF62344EE774}"/>
              </a:ext>
            </a:extLst>
          </p:cNvPr>
          <p:cNvSpPr>
            <a:spLocks noGrp="1"/>
          </p:cNvSpPr>
          <p:nvPr>
            <p:ph type="title"/>
          </p:nvPr>
        </p:nvSpPr>
        <p:spPr/>
        <p:txBody>
          <a:bodyPr>
            <a:normAutofit/>
          </a:bodyPr>
          <a:lstStyle/>
          <a:p>
            <a:r>
              <a:rPr lang="en-IN" sz="8000" dirty="0"/>
              <a:t>References</a:t>
            </a:r>
          </a:p>
        </p:txBody>
      </p:sp>
      <p:sp>
        <p:nvSpPr>
          <p:cNvPr id="3" name="Content Placeholder 2">
            <a:extLst>
              <a:ext uri="{FF2B5EF4-FFF2-40B4-BE49-F238E27FC236}">
                <a16:creationId xmlns:a16="http://schemas.microsoft.com/office/drawing/2014/main" id="{30FC6B16-8140-5768-C2DF-B346FD8EB559}"/>
              </a:ext>
            </a:extLst>
          </p:cNvPr>
          <p:cNvSpPr>
            <a:spLocks noGrp="1"/>
          </p:cNvSpPr>
          <p:nvPr>
            <p:ph idx="1"/>
          </p:nvPr>
        </p:nvSpPr>
        <p:spPr/>
        <p:txBody>
          <a:bodyPr>
            <a:normAutofit/>
          </a:bodyPr>
          <a:lstStyle/>
          <a:p>
            <a:pPr marL="494100" indent="-457200">
              <a:buFont typeface="+mj-lt"/>
              <a:buAutoNum type="arabicPeriod"/>
            </a:pPr>
            <a:r>
              <a:rPr lang="en-IN" sz="3600" dirty="0">
                <a:hlinkClick r:id="rId2"/>
              </a:rPr>
              <a:t>https://www.geeksforgeeks.org/</a:t>
            </a:r>
            <a:endParaRPr lang="en-IN" sz="3600" dirty="0"/>
          </a:p>
          <a:p>
            <a:pPr marL="494100" indent="-457200">
              <a:buFont typeface="+mj-lt"/>
              <a:buAutoNum type="arabicPeriod"/>
            </a:pPr>
            <a:r>
              <a:rPr lang="en-IN" sz="3600">
                <a:hlinkClick r:id="rId3"/>
              </a:rPr>
              <a:t>https://chatgpt.com/</a:t>
            </a:r>
            <a:endParaRPr lang="en-IN" sz="3600"/>
          </a:p>
        </p:txBody>
      </p:sp>
    </p:spTree>
    <p:extLst>
      <p:ext uri="{BB962C8B-B14F-4D97-AF65-F5344CB8AC3E}">
        <p14:creationId xmlns:p14="http://schemas.microsoft.com/office/powerpoint/2010/main" val="3789736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EF2769F-ACFD-0220-161A-B00F93A1BFC0}"/>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0" y="0"/>
            <a:ext cx="5295900" cy="6858000"/>
          </a:xfrm>
          <a:prstGeom prst="rect">
            <a:avLst/>
          </a:prstGeom>
        </p:spPr>
      </p:pic>
      <p:pic>
        <p:nvPicPr>
          <p:cNvPr id="7" name="Picture 6">
            <a:extLst>
              <a:ext uri="{FF2B5EF4-FFF2-40B4-BE49-F238E27FC236}">
                <a16:creationId xmlns:a16="http://schemas.microsoft.com/office/drawing/2014/main" id="{4EEA13C2-0E20-BE01-DDC1-C5AF900514A4}"/>
              </a:ext>
            </a:extLst>
          </p:cNvPr>
          <p:cNvPicPr>
            <a:picLocks noChangeAspect="1"/>
          </p:cNvPicPr>
          <p:nvPr/>
        </p:nvPicPr>
        <p:blipFill>
          <a:blip r:embed="rId4"/>
          <a:stretch>
            <a:fillRect/>
          </a:stretch>
        </p:blipFill>
        <p:spPr>
          <a:xfrm>
            <a:off x="5300414" y="0"/>
            <a:ext cx="6891586" cy="4197961"/>
          </a:xfrm>
          <a:prstGeom prst="rect">
            <a:avLst/>
          </a:prstGeom>
        </p:spPr>
      </p:pic>
      <p:pic>
        <p:nvPicPr>
          <p:cNvPr id="10" name="Picture 9">
            <a:extLst>
              <a:ext uri="{FF2B5EF4-FFF2-40B4-BE49-F238E27FC236}">
                <a16:creationId xmlns:a16="http://schemas.microsoft.com/office/drawing/2014/main" id="{C00F9122-D36A-992F-54F2-E70E5A260A19}"/>
              </a:ext>
            </a:extLst>
          </p:cNvPr>
          <p:cNvPicPr>
            <a:picLocks noChangeAspect="1"/>
          </p:cNvPicPr>
          <p:nvPr/>
        </p:nvPicPr>
        <p:blipFill>
          <a:blip r:embed="rId5"/>
          <a:srcRect l="13297" t="16201" r="13727" b="18710"/>
          <a:stretch>
            <a:fillRect/>
          </a:stretch>
        </p:blipFill>
        <p:spPr>
          <a:xfrm>
            <a:off x="7586066" y="4425387"/>
            <a:ext cx="2472334" cy="2205186"/>
          </a:xfrm>
          <a:prstGeom prst="rect">
            <a:avLst/>
          </a:prstGeom>
        </p:spPr>
      </p:pic>
    </p:spTree>
    <p:extLst>
      <p:ext uri="{BB962C8B-B14F-4D97-AF65-F5344CB8AC3E}">
        <p14:creationId xmlns:p14="http://schemas.microsoft.com/office/powerpoint/2010/main" val="293515348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VTI">
  <a:themeElements>
    <a:clrScheme name="Custom 35">
      <a:dk1>
        <a:sysClr val="windowText" lastClr="000000"/>
      </a:dk1>
      <a:lt1>
        <a:sysClr val="window" lastClr="FFFFFF"/>
      </a:lt1>
      <a:dk2>
        <a:srgbClr val="4E3B30"/>
      </a:dk2>
      <a:lt2>
        <a:srgbClr val="F4EDD8"/>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Custom 4">
      <a:majorFont>
        <a:latin typeface="Goudy Old Style"/>
        <a:ea typeface=""/>
        <a:cs typeface=""/>
      </a:majorFont>
      <a:minorFont>
        <a:latin typeface="Goudy Old Style"/>
        <a:ea typeface=""/>
        <a:cs typeface=""/>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VTI" id="{35C4A07C-0176-4A32-9BCB-B016516853F0}" vid="{9B70D35C-BCA8-4715-BB49-8BE54A7FC07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themeOverride>
</file>

<file path=ppt/theme/themeOverride2.xml><?xml version="1.0" encoding="utf-8"?>
<a:themeOverride xmlns:a="http://schemas.openxmlformats.org/drawingml/2006/main">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4B270AB-C138-415C-897E-3C24487DECF1}">
  <ds:schemaRefs>
    <ds:schemaRef ds:uri="http://schemas.microsoft.com/sharepoint/v3/contenttype/forms"/>
  </ds:schemaRefs>
</ds:datastoreItem>
</file>

<file path=customXml/itemProps2.xml><?xml version="1.0" encoding="utf-8"?>
<ds:datastoreItem xmlns:ds="http://schemas.openxmlformats.org/officeDocument/2006/customXml" ds:itemID="{2C4C00F4-06E9-43E3-AD97-88A857CEFA82}">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0585E981-8C91-4205-A0C3-C991F42B4C9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{69C1C63A-252E-4B31-9B76-45F2449843AF}tf55705232_win32</Template>
  <TotalTime>424</TotalTime>
  <Words>720</Words>
  <Application>Microsoft Office PowerPoint</Application>
  <PresentationFormat>Widescreen</PresentationFormat>
  <Paragraphs>44</Paragraphs>
  <Slides>21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Calibri</vt:lpstr>
      <vt:lpstr>Goudy Old Style</vt:lpstr>
      <vt:lpstr>Wingdings 2</vt:lpstr>
      <vt:lpstr>SlateVTI</vt:lpstr>
      <vt:lpstr>CPU Scheduling using C</vt:lpstr>
      <vt:lpstr>Brief Description</vt:lpstr>
      <vt:lpstr>CPU Scheduling</vt:lpstr>
      <vt:lpstr>Algorithms Implemented</vt:lpstr>
      <vt:lpstr>Algorithms Explained (Problem Statement)</vt:lpstr>
      <vt:lpstr>Algorithms Explained (Own Initiative)</vt:lpstr>
      <vt:lpstr>PowerPoint Presentation</vt:lpstr>
      <vt:lpstr>First Come First Serve (FCFS)</vt:lpstr>
      <vt:lpstr>PowerPoint Presentation</vt:lpstr>
      <vt:lpstr>Shortest Job First (SJF)</vt:lpstr>
      <vt:lpstr>PowerPoint Presentation</vt:lpstr>
      <vt:lpstr>Round Robin (RR)</vt:lpstr>
      <vt:lpstr>PowerPoint Presentation</vt:lpstr>
      <vt:lpstr>Shortest Remaining Job First (SRJF)</vt:lpstr>
      <vt:lpstr>PowerPoint Presentation</vt:lpstr>
      <vt:lpstr>Longest Job First (LJF)</vt:lpstr>
      <vt:lpstr>PowerPoint Presentation</vt:lpstr>
      <vt:lpstr>Multi-Level Queue (MLQ) Flowchart</vt:lpstr>
      <vt:lpstr>Multi-Level Queue (MLQ)</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hims996517@outlook.com</dc:creator>
  <cp:lastModifiedBy>hims996517@outlook.com</cp:lastModifiedBy>
  <cp:revision>76</cp:revision>
  <dcterms:created xsi:type="dcterms:W3CDTF">2026-01-30T18:27:14Z</dcterms:created>
  <dcterms:modified xsi:type="dcterms:W3CDTF">2026-02-03T12:13:41Z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